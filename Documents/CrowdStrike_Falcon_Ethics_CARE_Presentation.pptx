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Microsoft: “Helping our customers through the CrowdStrike outage” (estimate of ~8.5M devices; &lt;1% of Windows) https://blogs.microsoft.com/blog/2024/07/20/helping-our-customers-through-the-crowdstrike-outage/
- Reuters (CrowdStrike says not a cyberattack; defect in a content update) https://www.reuters.com/technology/crowdstrike-says-actively-working-with-customers-impacted-by-outage-2024-07-19/
- Wikimedia Commons (BSOD screenshot) https://commons.wikimedia.org/wiki/File:Bsodwindows10.png
- Wikimedia Commons (CrowdStrike logo) https://commons.wikimedia.org/wiki/File:CrowdStrike_logo.svg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CrowdStrike: External Technical Root Cause Analysis — Channel File 291 (Aug 6, 2024) https://www.crowdstrike.com/wp-content/uploads/2024/08/Channel-File-291-Incident-Root-Cause-Analysis-08.06.2024.pdf
- Reuters (experts on testing / update behavior; BSOD; manual removal) https://www.reuters.com/technology/cybersecurity/crowdstrike-update-that-caused-global-outage-likely-skipped-checks-experts-say-2024-07-20/
- Unsplash (hospital image by Navy Medicine; used under Unsplash License) https://unsplash.com/photos/aXXxbTRdXbY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Microsoft (impact estimate; “&lt;1% but outsized impact”) https://blogs.microsoft.com/blog/2024/07/20/helping-our-customers-through-the-crowdstrike-outage/
- Associated Press (cross-sector disruptions from the outage) https://apnews.com/article/what-is-crowdstrike-worldwide-outage-94b4fc5ac6eed46ddcd565a5f1e4b916
- Unsplash (airport departures board photo by Duc Van; used under Unsplash License) https://unsplash.com/photos/airport-departures-board-displaying-flight-information-dY1ZbkN_fOk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CISA alert (initial notice + mitigation context) https://www.cisa.gov/news-events/alerts/2024/07/19/widespread-it-outage-due-crowdstrike-update
- Reuters (CEO statement; not a cyberattack; defect in content update) https://www.reuters.com/technology/crowdstrike-says-actively-working-with-customers-impacted-by-outage-2024-07-19/
- Microsoft blog (estimate of ~8.5M devices; recovery guidance) https://blogs.microsoft.com/blog/2024/07/20/helping-our-customers-through-the-crowdstrike-outage/
- Reuters (QC bug / “template instance” bypassed checks) https://www.reuters.com/technology/crowdstrike-says-bug-quality-control-process-led-botched-update-2024-07-24/
- CrowdStrike RCA (Channel File 291 details) https://www.crowdstrike.com/wp-content/uploads/2024/08/Channel-File-291-Incident-Root-Cause-Analysis-08.06.2024.pdf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ACM Code of Ethics booklet (CARE framework) https://www.acm.org/binaries/content/assets/about/acm-code-of-ethics-booklet.pdf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Associated Press (scope of cross-sector disruption; not a cyberattack framing) https://apnews.com/article/what-is-crowdstrike-worldwide-outage-94b4fc5ac6eed46ddcd565a5f1e4b916
- Microsoft (impact magnitude; recovery guidance) https://blogs.microsoft.com/blog/2024/07/20/helping-our-customers-through-the-crowdstrike-outage/
- CrowdStrike RCA (validation + remediation discussion) https://www.crowdstrike.com/wp-content/uploads/2024/08/Channel-File-291-Incident-Root-Cause-Analysis-08.06.2024.pdf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ACM Code of Ethics (principles 1.2, 2.5, 2.9, 3.1, 3.7) https://www.acm.org/code-of-ethics
- CrowdStrike RCA (technical root cause summary; out-of-bounds memory read) https://www.crowdstrike.com/wp-content/uploads/2024/08/Channel-File-291-Incident-Root-Cause-Analysis-08.06.2024.pdf
- Microsoft blog (impact magnitude; why small % produced large effects) https://blogs.microsoft.com/blog/2024/07/20/helping-our-customers-through-the-crowdstrike-outage/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CISA alert (incident guidance; mitigation context) https://www.cisa.gov/news-events/alerts/2024/07/19/widespread-it-outage-due-crowdstrike-update
- CrowdStrike RCA (mitigations and validation changes) https://www.crowdstrike.com/wp-content/uploads/2024/08/Channel-File-291-Incident-Root-Cause-Analysis-08.06.2024.pdf
- Microsoft blog (recovery guidance; ecosystem coordination) https://blogs.microsoft.com/blog/2024/07/20/helping-our-customers-through-the-crowdstrike-outage/
- Microsoft Windows Resiliency Initiative (longer-term response to systemic risk) https://blogs.windows.com/windowsexperience/2025/06/26/the-windows-resiliency-initiative-building-resilience-for-a-future-ready-enterprise/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ACM Code of Ethics (public good; avoid harm; thorough evaluation) https://www.acm.org/code-of-ethics
- Reuters (not cyberattack; global outage details) https://www.reuters.com/technology/crowdstrike-says-actively-working-with-customers-impacted-by-outage-2024-07-19/
- Reuters (experts on skipped checks/testing) https://www.reuters.com/technology/cybersecurity/crowdstrike-update-that-caused-global-outage-likely-skipped-checks-experts-say-2024-07-20/
- Reuters (QC bug / validation failure) https://www.reuters.com/technology/crowdstrike-says-bug-quality-control-process-led-botched-update-2024-07-24/
- Associated Press (cross-sector disruption) https://apnews.com/article/what-is-crowdstrike-worldwide-outage-94b4fc5ac6eed46ddcd565a5f1e4b916
- Microsoft blog (impact estimate; recovery) https://blogs.microsoft.com/blog/2024/07/20/helping-our-customers-through-the-crowdstrike-outage/
- CrowdStrike RCA (technical root cause; mitigations) https://www.crowdstrike.com/wp-content/uploads/2024/08/Channel-File-291-Incident-Root-Cause-Analysis-08.06.2024.pdf
- CISA alert (public-sector guidance) https://www.cisa.gov/news-events/alerts/2024/07/19/widespread-it-outage-due-crowdstrike-update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557784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bsod_windows10.png">    </p:cNvPr>
          <p:cNvPicPr>
            <a:picLocks noChangeAspect="1"/>
          </p:cNvPicPr>
          <p:nvPr/>
        </p:nvPicPr>
        <p:blipFill>
          <a:blip r:embed="rId1"/>
          <a:srcRect l="2787" r="2787" t="0" b="0"/>
          <a:stretch/>
        </p:blipFill>
        <p:spPr>
          <a:xfrm>
            <a:off x="566928" y="886968"/>
            <a:ext cx="5541264" cy="3300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343400"/>
            <a:ext cx="55778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Update Outage (July 2024)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defective security-content update crashed Windows systems worldwide, disrupting critical services.</a:t>
            </a:r>
            <a:endParaRPr lang="en-US" sz="2000" dirty="0"/>
          </a:p>
        </p:txBody>
      </p:sp>
      <p:pic>
        <p:nvPicPr>
          <p:cNvPr id="11" name="Image 1" descr="/mnt/data/crowdstrik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930" y="868680"/>
            <a:ext cx="3456972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1600200"/>
            <a:ext cx="5193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(high-level)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1965960"/>
            <a:ext cx="5193792" cy="15982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cyberattack: a trusted update triggered the failure.</a:t>
            </a:r>
            <a:endParaRPr lang="en-US" sz="1500" dirty="0"/>
          </a:p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Windows endpoints used by organizations worldwide.</a:t>
            </a:r>
            <a:endParaRPr lang="en-US" sz="1500" dirty="0"/>
          </a:p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estimated ~8.5M devices impacted (&lt;1% of Windows), yet major disruption.</a:t>
            </a:r>
            <a:endParaRPr lang="en-US" sz="1500" dirty="0"/>
          </a:p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ethical questions about release gates for privileged, auto-delivered updates.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What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Falcon “rapid response” content update was released for Windows sensors.</a:t>
            </a:r>
            <a:endParaRPr lang="en-US" sz="1500" dirty="0"/>
          </a:p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endpoints crashed into BSOD/boot loops shortly after applying the update.</a:t>
            </a:r>
            <a:endParaRPr lang="en-US" sz="1500" dirty="0"/>
          </a:p>
          <a:p>
            <a:pPr marL="209550" indent="-20955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sensor operates with deep OS privileges, failures became system-wide.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privilege matters (simplified stack)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73552"/>
            <a:ext cx="5577840" cy="475488"/>
          </a:xfrm>
          <a:prstGeom prst="rect">
            <a:avLst/>
          </a:prstGeom>
          <a:solidFill>
            <a:srgbClr val="EAF2FF"/>
          </a:solidFill>
          <a:ln w="12700">
            <a:solidFill>
              <a:srgbClr val="E5E7EB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services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55778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user-mode components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370832"/>
            <a:ext cx="5577840" cy="475488"/>
          </a:xfrm>
          <a:prstGeom prst="rect">
            <a:avLst/>
          </a:prstGeom>
          <a:solidFill>
            <a:srgbClr val="FFE4E6"/>
          </a:solidFill>
          <a:ln w="12700">
            <a:solidFill>
              <a:srgbClr val="E5E7EB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kernel (high privilege) — Falcon sensor operates here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919472"/>
            <a:ext cx="55778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firmware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55778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when high-privilege software fails, the whole OS can fail—not just one application.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868680"/>
            <a:ext cx="5193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snapshot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1298448"/>
            <a:ext cx="51937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202565" indent="-202565">
              <a:spcAft>
                <a:spcPts val="29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CrowdStrike’s RCA ties the incident to “Channel File 291” content and a parsing/interpreter failure.</a:t>
            </a:r>
            <a:endParaRPr lang="en-US" sz="1450" dirty="0"/>
          </a:p>
          <a:p>
            <a:pPr marL="202565" indent="-202565">
              <a:spcAft>
                <a:spcPts val="29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describes an out-of-bounds memory read leading to an invalid page fault/crash.</a:t>
            </a:r>
            <a:endParaRPr lang="en-US" sz="1450" dirty="0"/>
          </a:p>
          <a:p>
            <a:pPr marL="202565" indent="-202565">
              <a:spcAft>
                <a:spcPts val="29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often required manual remediation, slowing restoration at scale.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46520" y="4160520"/>
            <a:ext cx="5193792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/mnt/data/hospital_unsplash.jpg">    </p:cNvPr>
          <p:cNvPicPr>
            <a:picLocks noChangeAspect="1"/>
          </p:cNvPicPr>
          <p:nvPr/>
        </p:nvPicPr>
        <p:blipFill>
          <a:blip r:embed="rId1"/>
          <a:srcRect l="0" r="0" t="35829" b="35829"/>
          <a:stretch/>
        </p:blipFill>
        <p:spPr>
          <a:xfrm>
            <a:off x="6464808" y="4178808"/>
            <a:ext cx="5157216" cy="18379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46520" y="6053328"/>
            <a:ext cx="5193792" cy="256032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security software becomes “infrastructure” when critical services depend on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Why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11091672" cy="1143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airport_departures_unsplash.jpg">    </p:cNvPr>
          <p:cNvPicPr>
            <a:picLocks noChangeAspect="1"/>
          </p:cNvPicPr>
          <p:nvPr/>
        </p:nvPicPr>
        <p:blipFill>
          <a:blip r:embed="rId1"/>
          <a:srcRect l="0" r="0" t="42494" b="42494"/>
          <a:stretch/>
        </p:blipFill>
        <p:spPr>
          <a:xfrm>
            <a:off x="566928" y="886968"/>
            <a:ext cx="11055096" cy="1106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148840"/>
            <a:ext cx="11091672" cy="502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is ethically significant (computing at societal scale)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358444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Critical services depend on “boring” IT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172968"/>
            <a:ext cx="3584448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travel, healthcare, banking, and government rely on Windows endpoints.</a:t>
            </a:r>
            <a:endParaRPr lang="en-US" sz="1380" dirty="0"/>
          </a:p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&lt;1% of devices can cause outsized disruption when they sit in critical workflows.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4288536" y="2697480"/>
            <a:ext cx="358444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Automation scales harm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288536" y="3172968"/>
            <a:ext cx="3584448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update frequently to respond to threats.</a:t>
            </a:r>
            <a:endParaRPr lang="en-US" sz="1380" dirty="0"/>
          </a:p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gates fail, the blast radius can be global within minutes.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8028432" y="2697480"/>
            <a:ext cx="358444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Trust &amp; professional duty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28432" y="3172968"/>
            <a:ext cx="3584448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 runs with high privilege—customers can’t “sandbox” it easily.</a:t>
            </a:r>
            <a:endParaRPr lang="en-US" sz="1380" dirty="0"/>
          </a:p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engineering becomes a public-safety practice, not just DevOps hygiene.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How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1091672" cy="502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how the situation unfolded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54480" y="4526280"/>
            <a:ext cx="9082735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19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begins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systems crash globally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554480" y="306324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72184" y="4443984"/>
            <a:ext cx="164592" cy="16459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/ Reuters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9324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19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statement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cyberattack”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825164" y="306324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2868" y="4443984"/>
            <a:ext cx="164592" cy="16459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9324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90008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guidance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~8.5M devices affected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095848" y="306324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3552" y="4443984"/>
            <a:ext cx="164592" cy="16459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0008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Reuters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691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24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failure described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bug let content slip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366531" y="306324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235" y="4443984"/>
            <a:ext cx="164592" cy="16459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691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31375" y="20574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6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File 291 details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0637215" y="3063240"/>
            <a:ext cx="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54919" y="4443984"/>
            <a:ext cx="164592" cy="16459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31375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110916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hinge on two things: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Pre-release safety gates for high-privilege updates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Post-incident transparency + fast, scalable remediation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CARE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= a structured way to apply the ACM Code of Ethics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1672" cy="411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CARE keeps the evaluation consistent with both the letter and spirit of the Code.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2743200" cy="4572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Consider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274320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Actors, stakeholders, effects, missing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7288" y="2057400"/>
            <a:ext cx="2743200" cy="4572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Analyze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532888"/>
            <a:ext cx="274320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Rights, technical facts, Code principles, values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45936" y="2057400"/>
            <a:ext cx="2743200" cy="4572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5936" y="2532888"/>
            <a:ext cx="274320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Responsibilities, authority, policies, alternatives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44584" y="2057400"/>
            <a:ext cx="2743200" cy="4572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txBody>
          <a:bodyPr wrap="square" lIns="2794" tIns="2794" rIns="2794" bIns="2794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Evaluate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44584" y="2532888"/>
            <a:ext cx="274320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Argument: question → theory → facts → objections → conclusion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11091672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3556" tIns="3556" rIns="3556" bIns="355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case, CARE helps separate: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happened (facts)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it mattered (impacts)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obligations existed (Code + duties)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should have been done differently (ethical argument)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Consider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observable effects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577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involved?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(release + validation)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075688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(platform + recovery)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(airlines, hospitals, banks, government agencies)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87368"/>
            <a:ext cx="5577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(travelers, patients, citizens)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01952" y="2953512"/>
            <a:ext cx="1435608" cy="640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73168" y="2953512"/>
            <a:ext cx="-1435608" cy="640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3995928"/>
            <a:ext cx="0" cy="914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46520" y="1600200"/>
            <a:ext cx="519379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effects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2029968"/>
            <a:ext cx="5193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downtime across sectors (travel, healthcare, finance, government).</a:t>
            </a:r>
            <a:endParaRPr lang="en-US" sz="1380" dirty="0"/>
          </a:p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burden for IT teams (time-to-recover scaled poorly).</a:t>
            </a:r>
            <a:endParaRPr lang="en-US" sz="1380" dirty="0"/>
          </a:p>
          <a:p>
            <a:pPr marL="192786" indent="-192786">
              <a:spcAft>
                <a:spcPts val="276"/>
              </a:spcAft>
              <a:buSzPct val="100000"/>
              <a:buChar char="•"/>
            </a:pPr>
            <a:r>
              <a:rPr lang="en-US" sz="13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impact: security update pipelines became a single point of failure.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6446520" y="3429000"/>
            <a:ext cx="519379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that would sharpen analysis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3858768"/>
            <a:ext cx="519379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8595" indent="-188595">
              <a:spcAft>
                <a:spcPts val="27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rollout staged (canary rings)? How fast could rollback occur?</a:t>
            </a:r>
            <a:endParaRPr lang="en-US" sz="1350" dirty="0"/>
          </a:p>
          <a:p>
            <a:pPr marL="188595" indent="-188595">
              <a:spcAft>
                <a:spcPts val="27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customers defer/pin content updates in high-risk environments?</a:t>
            </a:r>
            <a:endParaRPr lang="en-US" sz="1350" dirty="0"/>
          </a:p>
          <a:p>
            <a:pPr marL="188595" indent="-188595">
              <a:spcAft>
                <a:spcPts val="27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tests mirror production parsers/interpreters and real endpoint diversity?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Analyze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Rights, technical facts, Code principles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58444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rights impacted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5844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of essential services (healthcare, transport, finance).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welfare (delayed care, disrupted travel).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interests (lost revenue, recovery costs).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expectation of due care for privileged software.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288536" y="1554480"/>
            <a:ext cx="358444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technical facts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88536" y="1984248"/>
            <a:ext cx="35844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sensor operates with deep OS privileges on Windows.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content update triggered BSOD/boot loops.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RCA: out-of-bounds memory read → invalid page fault/crash.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often required manual steps (hard to scale remotely).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028432" y="1554480"/>
            <a:ext cx="358444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principles &amp; values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28432" y="1984248"/>
            <a:ext cx="3584448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principles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28432" y="2267712"/>
            <a:ext cx="3584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Avoid harm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Thorough evaluation &amp; risk analysis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Robustly and usably secure systems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Public good as central concern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Special care for infrastructure systems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8028432" y="4224528"/>
            <a:ext cx="3584448" cy="274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to weigh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28432" y="4507992"/>
            <a:ext cx="358444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Prudence (blast-radius awareness)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80" dirty="0"/>
          </a:p>
          <a:p>
            <a:pPr marL="178816" indent="-178816">
              <a:spcAft>
                <a:spcPts val="256"/>
              </a:spcAft>
              <a:buSzPct val="100000"/>
              <a:buChar char="•"/>
            </a:pPr>
            <a:r>
              <a:rPr lang="en-US" sz="12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as a security property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shaped choices—and what could have changed outcomes?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forces (responsibilities &amp; incentives)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vendors are pressured to ship rapid updates against emerging threats.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often auto-apply security content for protection.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Kernel/privileged operation increases consequences of mistakes.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authority (validation + distribution) sits largely with the vendor.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treated the outage as a national-level incident requiring guidance.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153912" y="1600200"/>
            <a:ext cx="54864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that likely reduce harm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53912" y="2029968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staged rollout (canary → small % → broad) for privileged content.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that mirrors production parsers/interpreters.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kill switch + rapid rollback for content updates.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controls: defer windows, pin versions, pre-prod testing rings.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remediation tooling to avoid hands-on recovery bottlenecks.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11091672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  <p:txBody>
          <a:bodyPr wrap="square" lIns="3556" tIns="3556" rIns="3556" bIns="355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takeaway: the ecosystem responded by emphasizing “resilience” and reducing dependence on kernel-level third-party drivers—treating this as a structural risk, not just a one-off bug.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Evaluate (The Argument)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92824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CrowdStrike Falcon update outage (July 2024) • Presentation: Mar 9,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9282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question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CrowdStrike act ethically by distributing a privileged content update in a way that enabled a global outage?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moral principles (theories)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Consequentialism: expected harm vs benefit given known blast radius.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Deontology: duty of care for high-privilege infrastructure software.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ethics: prudence, humility, accountability in release practice.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facts to theory → conclusion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636008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556" tIns="3556" rIns="3556" bIns="3556" rtlCol="0" anchor="t"/>
          <a:lstStyle/>
          <a:p>
            <a:pPr algn="l" indent="0" marL="0">
              <a:buNone/>
            </a:pPr>
            <a:r>
              <a:rPr lang="en-US" sz="129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Not fully ethical. The release process fell short of a reasonable duty of care for privileged, widely deployed security software—violating “avoid harm” and “thorough evaluation.”</a:t>
            </a:r>
            <a:endParaRPr lang="en-US" sz="1290" dirty="0"/>
          </a:p>
          <a:p>
            <a:pPr algn="l" indent="0" marL="0">
              <a:buNone/>
            </a:pPr>
            <a:endParaRPr lang="en-US" sz="1290" dirty="0"/>
          </a:p>
          <a:p>
            <a:pPr algn="l" indent="0" marL="0">
              <a:buNone/>
            </a:pPr>
            <a:r>
              <a:rPr lang="en-US" sz="129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claim: when your software can brick critical services at scale, staged rollout + rollback controls are ethical minimums, not optional features.</a:t>
            </a:r>
            <a:endParaRPr lang="en-US" sz="1290" dirty="0"/>
          </a:p>
        </p:txBody>
      </p:sp>
      <p:sp>
        <p:nvSpPr>
          <p:cNvPr id="14" name="Text 12"/>
          <p:cNvSpPr/>
          <p:nvPr/>
        </p:nvSpPr>
        <p:spPr>
          <a:xfrm>
            <a:off x="6153912" y="86868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objections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53912" y="1389888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objection: “Security requires rapid updates; delaying can expose customers to active threats. Microsoft’s kernel architecture also contributes to the risk.”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153912" y="251460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53912" y="3035808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794" tIns="2794" rIns="2794" bIns="2794" rtlCol="0" anchor="ctr"/>
          <a:lstStyle/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≠ “all-at-once”: canaries + staged rollout preserve speed while containing blast radius.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matters: CrowdStrike controlled the content artifact and its validation/distribution.</a:t>
            </a:r>
            <a:endParaRPr lang="en-US" sz="1320" dirty="0"/>
          </a:p>
          <a:p>
            <a:pPr marL="184404" indent="-184404">
              <a:spcAft>
                <a:spcPts val="264"/>
              </a:spcAft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Infrastructure-grade updates require fail-safes (rollback, kill switch, customer deferral).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153912" y="4343400"/>
            <a:ext cx="54864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alignment (public good)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53912" y="4864608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3556" tIns="3556" rIns="3556" bIns="3556" rtlCol="0" anchor="t"/>
          <a:lstStyle/>
          <a:p>
            <a:pPr algn="l" indent="0" marL="0">
              <a:buNone/>
            </a:pPr>
            <a:r>
              <a:rPr lang="en-US" sz="129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Public-good alignment means treating release engineering as safety engineering: realistic testing, staged delivery, and rapid recovery—because hospitals and transportation systems are downstream stakeholders (ACM 3.1, 3.7).</a:t>
            </a:r>
            <a:endParaRPr lang="en-US" sz="1290" dirty="0"/>
          </a:p>
        </p:txBody>
      </p:sp>
      <p:sp>
        <p:nvSpPr>
          <p:cNvPr id="20" name="Text 18"/>
          <p:cNvSpPr/>
          <p:nvPr/>
        </p:nvSpPr>
        <p:spPr>
          <a:xfrm>
            <a:off x="6153912" y="5916168"/>
            <a:ext cx="5486400" cy="256032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 (MLA, abbreviated): Reuters (Jul 19/20/24 2024); AP (Jul 19 2024); Microsoft Blog (Jul 20 2024); CrowdStrike RCA (Aug 6 2024); CISA (Jul 19 2024); ACM Code (2018).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Malachi</dc:creator>
  <cp:lastModifiedBy>Malachi</cp:lastModifiedBy>
  <cp:revision>1</cp:revision>
  <dcterms:created xsi:type="dcterms:W3CDTF">2026-02-02T20:48:16Z</dcterms:created>
  <dcterms:modified xsi:type="dcterms:W3CDTF">2026-02-02T20:48:16Z</dcterms:modified>
</cp:coreProperties>
</file>